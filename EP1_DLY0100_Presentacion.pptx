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1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13F"/>
                </a:solidFill>
                <a:latin typeface="Calibri"/>
              </a:rPr>
              <a:t>PR-AUC en validación (3 semillas)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 validación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3F-4750-9BC5-798BB299122B}"/>
              </c:ext>
            </c:extLst>
          </c:dPt>
          <c:dPt>
            <c:idx val="1"/>
            <c:invertIfNegative val="0"/>
            <c:bubble3D val="0"/>
            <c:spPr>
              <a:solidFill>
                <a:srgbClr val="C9D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3F-4750-9BC5-798BB299122B}"/>
              </c:ext>
            </c:extLst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3F-4750-9BC5-798BB299122B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13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Oficial</c:v>
                </c:pt>
                <c:pt idx="1">
                  <c:v>Con duration</c:v>
                </c:pt>
                <c:pt idx="2">
                  <c:v>Sin log ni escalar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0.433</c:v>
                </c:pt>
                <c:pt idx="1">
                  <c:v>0.59099999999999997</c:v>
                </c:pt>
                <c:pt idx="2">
                  <c:v>0.30299999999999999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3F-4750-9BC5-798BB29912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1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13F"/>
                </a:solidFill>
                <a:latin typeface="Calibri"/>
              </a:rPr>
              <a:t>PR-AUC en validación, red base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13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ELU</c:v>
                </c:pt>
                <c:pt idx="1">
                  <c:v>Leaky ReLU</c:v>
                </c:pt>
                <c:pt idx="2">
                  <c:v>Tanh</c:v>
                </c:pt>
                <c:pt idx="3">
                  <c:v>ReLU</c:v>
                </c:pt>
                <c:pt idx="4">
                  <c:v>Sigmoide</c:v>
                </c:pt>
                <c:pt idx="5">
                  <c:v>Lineal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0.44900000000000001</c:v>
                </c:pt>
                <c:pt idx="1">
                  <c:v>0.441</c:v>
                </c:pt>
                <c:pt idx="2">
                  <c:v>0.44</c:v>
                </c:pt>
                <c:pt idx="3">
                  <c:v>0.433</c:v>
                </c:pt>
                <c:pt idx="4">
                  <c:v>0.42499999999999999</c:v>
                </c:pt>
                <c:pt idx="5">
                  <c:v>0.41799999999999998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1A-4696-A3BF-B52D8101A3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7"/>
          <c:min val="0.35"/>
        </c:scaling>
        <c:delete val="0"/>
        <c:axPos val="t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1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13F"/>
                </a:solidFill>
                <a:latin typeface="Calibri"/>
              </a:rPr>
              <a:t>Precision, Recall y F1 con umbral 0,5 (validación)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BCE</c:v>
                </c:pt>
                <c:pt idx="1">
                  <c:v>MSE</c:v>
                </c:pt>
                <c:pt idx="2">
                  <c:v>BCE pesos</c:v>
                </c:pt>
                <c:pt idx="3">
                  <c:v>Focal</c:v>
                </c:pt>
                <c:pt idx="4">
                  <c:v>Softmax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0.59599999999999997</c:v>
                </c:pt>
                <c:pt idx="1">
                  <c:v>0.57999999999999996</c:v>
                </c:pt>
                <c:pt idx="2">
                  <c:v>0.307</c:v>
                </c:pt>
                <c:pt idx="3">
                  <c:v>0.44800000000000001</c:v>
                </c:pt>
                <c:pt idx="4">
                  <c:v>0.57699999999999996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A-4E76-931A-0ECE2A64A9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BCE</c:v>
                </c:pt>
                <c:pt idx="1">
                  <c:v>MSE</c:v>
                </c:pt>
                <c:pt idx="2">
                  <c:v>BCE pesos</c:v>
                </c:pt>
                <c:pt idx="3">
                  <c:v>Focal</c:v>
                </c:pt>
                <c:pt idx="4">
                  <c:v>Softmax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0.28199999999999997</c:v>
                </c:pt>
                <c:pt idx="1">
                  <c:v>0.28699999999999998</c:v>
                </c:pt>
                <c:pt idx="2">
                  <c:v>0.65</c:v>
                </c:pt>
                <c:pt idx="3">
                  <c:v>0.47</c:v>
                </c:pt>
                <c:pt idx="4">
                  <c:v>0.27800000000000002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7A-4E76-931A-0ECE2A64A9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BCE</c:v>
                </c:pt>
                <c:pt idx="1">
                  <c:v>MSE</c:v>
                </c:pt>
                <c:pt idx="2">
                  <c:v>BCE pesos</c:v>
                </c:pt>
                <c:pt idx="3">
                  <c:v>Focal</c:v>
                </c:pt>
                <c:pt idx="4">
                  <c:v>Softmax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0.38200000000000001</c:v>
                </c:pt>
                <c:pt idx="1">
                  <c:v>0.38200000000000001</c:v>
                </c:pt>
                <c:pt idx="2">
                  <c:v>0.41599999999999998</c:v>
                </c:pt>
                <c:pt idx="3">
                  <c:v>0.45800000000000002</c:v>
                </c:pt>
                <c:pt idx="4">
                  <c:v>0.375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7A-4E76-931A-0ECE2A64A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20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NICOLÁS CISTERNAS (≈15 s). Saludo y presentación del equipo. Construimos un MLP en Keras para decidir a qué clientes llamar antes de llamar, y mostramos cada decisión con evidencia experimental. Reparto: Nicolás Cisternas, datos y entrenamiento; Francisco Gaete, funciones, regularización y modelo final; Sebastian Lagos, métricas, resultados y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NICOLÁS CISTERNAS (≈35 s). 45.211 clientes y solo el 11,7 % contrata. Un modelo que siempre dice «no» tiene 88,3 % de Accuracy y no sirve: como dice el material 1.4.2, la Accuracy funciona bien solo con clases equilibradas. Por eso usamos Precision, Recall, F1 y PR-AUC de la clase «yes». Partición estratificada 70/15/15, el conjunto de prueba se usa una sola vez y cada experimento se repite con 3 semillas.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NICOLÁS CISTERNAS (≈50 s). Mostrar las secciones 2 y 3.3 del notebook. (1) Quitamos duration: solo se conoce después de llamar; con ella el PR-AUC sube a 0,591, pero es fuga de datos. (2) pdays = −1 significa «nunca contactado»: lo convertimos en bandera. (3) balance, campaign y previous tienen colas largas: log y estandarización (material 1.5.1, escalar las entradas); sin eso el PR-AUC cae de 0,433 a 0,303 y se vuelve inestable (±0,034). (4) One-Hot conservando «unknown», que es informativo. (5) El escalador se ajusta solo con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NICOLÁS CISTERNAS (≈1 min 10 s). Variamos un parámetro por vez con el resto fijo. Izquierda: con 150 épocas la pérdida de validación toca fondo en la época 15 y después sube mientras la de entrenamiento sigue bajando: sobreajuste. Centro: con lr 1e-2 la pérdida de validación se dispara y con 1e-1 oscila; la desviación entre semillas es ±0,014 y ±0,043 contra ±0,002: elegimos 1e-3. Derecha: batch 32 sobreajusta antes porque hace 989 actualizaciones por época contra 31 con batch 1024; el material 1.4.2 lo dice: importan las iteraciones del descenso del gradiente, no las épocas. Batch 1024 es unas 10 veces más rápido; elegimos 512. Como a épocas fijas estos efectos se mezclan, el modelo final usa Early Stopping. Traspaso al FRANCISCO GAETE.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FRANCISCO GAETE (≈50 s). Cambiamos solo la activación. En 2 capas las diferencias son pequeñas (0,418 a 0,449) y el control lineal queda cerca: el problema es casi lineal. Derecha: en una red de 12 capas, con sigmoide la primera capa recibe un gradiente 13 millones de veces menor y no aprende (PR-AUC 0,116, azar); con ReLU y He llega a 0,411. Es el desvanecimiento del gradiente del material 1.6.1. Con la configuración final y Early Stopping, ReLU obtiene el mayor PR-AUC (0,463) y es la más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FRANCISCO GAETE (≈45 s). Salida: una neurona sigmoide = probabilidad de «yes» (el material 1.4.2 indica sigmoide para clasificación binaria). Probamos cinco pérdidas: el PR-AUC es casi igual (0,415 a 0,433), así que el ranking de clientes no cambia. Lo que cambia es el punto de operación a umbral 0,5: BCE estándar da Precision 0,60 y Recall 0,28; con pesos de clase el Recall sube a 0,65 y la Precision baja a 0,31. Elegimos BCE con pesos de clase y fijamos el umbral en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FRANCISCO GAETE (≈50 s). Usamos una red grande a propósito para ver el sobreajuste. Sin regularización la pérdida de validación llega a 0,91 y el PR-AUC cae a 0,294. Con L2 1e-3, Dropout + BatchNorm o Early Stopping sube a 0,44–0,455: +0,16. Early Stopping fue lo mejor y 5 veces más rápido. L2 1e-4 es demasiado débil y BatchNorm sola no evita el sobreajuste. Data augmentation no aplica a datos tabulares. Optimizador: Adam por robustez y rapidez; el material 1.6.1 dice que no hay evidencia para declarar uno mejor que otro.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FRANCISCO GAETE (≈45 s). Búsqueda aleatoria de 20 configuraciones: el paisaje es plano (0,441 a 0,459). La tabla muestra la base, las 3 mejores repetidas con 3 semillas y la final. La mejor con 1 semilla bajó a 0,453 al repetirla; la ganadora fue 128-64 con dropout 0,2, L2 1e-4, BatchNorm, lr 1e-3, batch 512 y pesos de clase: 0,463, +0,011 sobre la base con Early Stopping. Lo que más sube el rendimiento es evitar el sobreajuste, no el ajuste fino. Traspaso al SEBASTIAN LAGOS.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SEBASTIAN LAGOS (≈55 s). Mostrar la celda 9.1. De 793 clientes que contratan detectamos 363 (VP) y perdimos 430 (FN); hicimos 418 llamadas en vano (FP) y evitamos 5.571 (VN). Accuracy = aciertos sobre el total = 0,875. Precision = VP entre (VP + FP) = 0,465: de cada 100 llamadas, 46 aciertan. Recall = VP entre (VP + FN) = 0,458: detectamos 46 de cada 100 compradores. F1 = media armónica = 0,461. El modelo «siempre no» tiene 0,883 de Accuracy y Recall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SEBASTIAN LAGOS (≈50 s). El conjunto de prueba se usó una sola vez. El MLP final supera a la regresión logística: misma Precision y más Recall; F1 +0,03 y PR-AUC +0,04. Contra el MLP base, cada uno con su mejor umbral, el F1 es casi igual (0,461 vs 0,457): la optimización mejora el ranking y la estabilidad, y el gran salto del F1 (0,357 a 0,461) viene del umbral. Llamando al 20 % mejor puntuado se captura el 60 % de las contrataciones. Validación cruzada: F1 0,477 ± 0,017.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SEBASTIAN LAGOS (≈45 s). Hay dos formas de mejorar Precision y Recall. Derecha: mover el umbral. Al subirlo sube la Precision y baja el Recall; en 0,71 se cruzan y el F1 es máximo en validación. En prueba, a 0,5 el modelo final tiene Recall 0,629 y Precision 0,304; a 0,71, 0,458 y 0,465. Izquierda: mover la curva completa, que mejora ambas a la vez; el MLP final queda sobre la regresión logística (PR-AUC 0,424 vs 0,384). Para seguir: calibrar y fijar el umbral por costo/beneficio, probar XGBoost y sumar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SEBASTIAN LAGOS (≈40 s). Tres aprendizajes: el sobreajuste fue el problema principal (+0,16 al regularizar contra +0,011 al afinar); la métrica y el umbral importan más que la arquitectura; el problema es casi lineal. Limitaciones: partición no temporal, comparaciones a épocas fijas y probabilidades no calibradas. Mejoras: XGBoost o LightGBM, umbral por costo, validación temporal y ensamble de semillas. Abrimos preguntas; el notebook está listo para ejecutar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datos a las decisiones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neuronal multicapa (MLP) para predecir qué clientes contratarán un depósito a plazo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1 · DLY0100 Deep Learning · Dataset Bank Marketing (UCI) · TensorFlow/Keras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310896" cy="31089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60120" y="38404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Cisternas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886200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3611880" y="38404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Gaete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3886200"/>
            <a:ext cx="310896" cy="310896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263640" y="38404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Lagos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antes de llamar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binaria con una clase minoritaria: la Accuracy engaña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23100" y="384048"/>
            <a:ext cx="166370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23100" y="384048"/>
            <a:ext cx="1663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Nicolás Cisternas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45.211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contactados, 16 variables de entrada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3429000" y="1508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11,7 %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 el depósito (clase minoritaria)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217920" y="1508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 un modelo que siempre dice «no»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experimental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5943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15 / 15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136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entrenamiento, validación y prueba, estratificado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42032" y="3429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2679192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Prueba: 1 vez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679192" y="39136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solo al final, nunca para decidir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3429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4764024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semillas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764024" y="39136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resultado es media ± desviación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11696" y="34290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6848856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 y F1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39136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la clase «yes»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con evidencia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se justificó y se probó cambiando solo una cosa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23100" y="384048"/>
            <a:ext cx="166370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23100" y="384048"/>
            <a:ext cx="1663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Nicolás Cisternas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«duration»: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conoce después de llamar (fuga de datos).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pdays = −1 → bandera: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81,7 % nunca fue contactado; −1 no es un número de días.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estandarizar: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campaign, previous (asimetría hasta 41,8).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+ «unknown» como categoría: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poutcome unknown rinde 9,2 % vs 64,7 % de success.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Escalador ajustado solo con train: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fuga de información.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37160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8" name="Chart 0"/>
          <p:cNvGraphicFramePr/>
          <p:nvPr/>
        </p:nvGraphicFramePr>
        <p:xfrm>
          <a:off x="5166360" y="1417320"/>
          <a:ext cx="3429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257800" y="41605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«duration» sube a 0,591, pero es una mejora irreal. Sin transformar, cae a 0,303 y se vuelve inestable.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Parámetros: uno por vez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controlados sobre una configuración base (64-32, ReLU, Adam, 3 semillas)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23100" y="384048"/>
            <a:ext cx="166370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23100" y="384048"/>
            <a:ext cx="1663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Nicolás Cisternas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04515"/>
              </p:ext>
            </p:extLst>
          </p:nvPr>
        </p:nvGraphicFramePr>
        <p:xfrm>
          <a:off x="457200" y="3276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probados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Sobreajuste desde la época 15 (0,286 → 0,353)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aprendizaje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· 1e-3 · 1e-2 · 1e-1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1e-2 y 1e-1 inestables (± 0,014 y ± 0,043 vs ± 0,002)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 batch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· 128 · 256 · 1024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es 10× más rápido; batch 32 sobreajusta 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Etiqueta 1">
            <a:extLst>
              <a:ext uri="{FF2B5EF4-FFF2-40B4-BE49-F238E27FC236}">
                <a16:creationId xmlns:a16="http://schemas.microsoft.com/office/drawing/2014/main" id="{7D271B15-A1A7-3340-2D06-791A70F87EA6}"/>
              </a:ext>
            </a:extLst>
          </p:cNvPr>
          <p:cNvSpPr txBox="1"/>
          <p:nvPr/>
        </p:nvSpPr>
        <p:spPr>
          <a:xfrm>
            <a:off x="457200" y="1257300"/>
            <a:ext cx="2615184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s-ES" sz="1100" b="1">
                <a:solidFill>
                  <a:srgbClr val="12213F"/>
                </a:solidFill>
                <a:latin typeface="Calibri" panose="020F0502020204030204" pitchFamily="34" charset="0"/>
              </a:rPr>
              <a:t>Épocas: mínimo de validación en la época 15</a:t>
            </a:r>
            <a:endParaRPr lang="es-CL" sz="1100" b="1">
              <a:solidFill>
                <a:srgbClr val="12213F"/>
              </a:solidFill>
              <a:latin typeface="Calibri" panose="020F0502020204030204" pitchFamily="34" charset="0"/>
            </a:endParaRPr>
          </a:p>
        </p:txBody>
      </p:sp>
      <p:pic>
        <p:nvPicPr>
          <p:cNvPr id="14" name="fig_p_epocas">
            <a:extLst>
              <a:ext uri="{FF2B5EF4-FFF2-40B4-BE49-F238E27FC236}">
                <a16:creationId xmlns:a16="http://schemas.microsoft.com/office/drawing/2014/main" id="{1C03CE13-2600-2765-A245-F59696D1B6B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8600"/>
            <a:ext cx="2615184" cy="1634490"/>
          </a:xfrm>
          <a:prstGeom prst="rect">
            <a:avLst/>
          </a:prstGeom>
        </p:spPr>
      </p:pic>
      <p:sp>
        <p:nvSpPr>
          <p:cNvPr id="15" name="Etiqueta 2">
            <a:extLst>
              <a:ext uri="{FF2B5EF4-FFF2-40B4-BE49-F238E27FC236}">
                <a16:creationId xmlns:a16="http://schemas.microsoft.com/office/drawing/2014/main" id="{BB511112-0AD0-1A14-6DDC-707DC1462B7B}"/>
              </a:ext>
            </a:extLst>
          </p:cNvPr>
          <p:cNvSpPr txBox="1"/>
          <p:nvPr/>
        </p:nvSpPr>
        <p:spPr>
          <a:xfrm>
            <a:off x="3264408" y="1257300"/>
            <a:ext cx="2615184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s-ES" sz="1100" b="1">
                <a:solidFill>
                  <a:srgbClr val="12213F"/>
                </a:solidFill>
                <a:latin typeface="Calibri" panose="020F0502020204030204" pitchFamily="34" charset="0"/>
              </a:rPr>
              <a:t>Tasa de aprendizaje: pérdida de validación</a:t>
            </a:r>
            <a:endParaRPr lang="es-CL" sz="1100" b="1">
              <a:solidFill>
                <a:srgbClr val="12213F"/>
              </a:solidFill>
              <a:latin typeface="Calibri" panose="020F0502020204030204" pitchFamily="34" charset="0"/>
            </a:endParaRPr>
          </a:p>
        </p:txBody>
      </p:sp>
      <p:pic>
        <p:nvPicPr>
          <p:cNvPr id="17" name="fig_p_lr">
            <a:extLst>
              <a:ext uri="{FF2B5EF4-FFF2-40B4-BE49-F238E27FC236}">
                <a16:creationId xmlns:a16="http://schemas.microsoft.com/office/drawing/2014/main" id="{13230BCA-DCE0-5558-3DB8-43C006A4DB4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498600"/>
            <a:ext cx="2615184" cy="1634490"/>
          </a:xfrm>
          <a:prstGeom prst="rect">
            <a:avLst/>
          </a:prstGeom>
        </p:spPr>
      </p:pic>
      <p:sp>
        <p:nvSpPr>
          <p:cNvPr id="18" name="Etiqueta 3">
            <a:extLst>
              <a:ext uri="{FF2B5EF4-FFF2-40B4-BE49-F238E27FC236}">
                <a16:creationId xmlns:a16="http://schemas.microsoft.com/office/drawing/2014/main" id="{121B920B-E716-FA99-946F-59D03AD822CF}"/>
              </a:ext>
            </a:extLst>
          </p:cNvPr>
          <p:cNvSpPr txBox="1"/>
          <p:nvPr/>
        </p:nvSpPr>
        <p:spPr>
          <a:xfrm>
            <a:off x="6071616" y="1257300"/>
            <a:ext cx="2615184" cy="261610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s-ES" sz="1100" b="1">
                <a:solidFill>
                  <a:srgbClr val="12213F"/>
                </a:solidFill>
                <a:latin typeface="Calibri" panose="020F0502020204030204" pitchFamily="34" charset="0"/>
              </a:rPr>
              <a:t>Tamaño de batch: pérdida de validación</a:t>
            </a:r>
            <a:endParaRPr lang="es-CL" sz="1100" b="1">
              <a:solidFill>
                <a:srgbClr val="12213F"/>
              </a:solidFill>
              <a:latin typeface="Calibri" panose="020F0502020204030204" pitchFamily="34" charset="0"/>
            </a:endParaRPr>
          </a:p>
        </p:txBody>
      </p:sp>
      <p:pic>
        <p:nvPicPr>
          <p:cNvPr id="20" name="fig_p_batch">
            <a:extLst>
              <a:ext uri="{FF2B5EF4-FFF2-40B4-BE49-F238E27FC236}">
                <a16:creationId xmlns:a16="http://schemas.microsoft.com/office/drawing/2014/main" id="{AD23F0E4-0676-7CB4-8260-C4CB76A4CA2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498600"/>
            <a:ext cx="2615184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Activación: ReLU y el gradiente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 capas casi no se nota; con 12 capas la sigmoide deja de aprender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 Gaete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41732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lineal en 0,418: el problema es casi lineal. Con Early Stopping y la config. final, ReLU gana (0,463) y es la más rápida.</a:t>
            </a:r>
            <a:endParaRPr lang="en-US" sz="1100" dirty="0"/>
          </a:p>
        </p:txBody>
      </p:sp>
      <p:pic>
        <p:nvPicPr>
          <p:cNvPr id="9" name="fig_gradiente" descr="Norma del gradiente por capa en una red de 12 cap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4114800" cy="2487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3931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DEEE8"/>
          </a:solidFill>
          <a:ln w="12700">
            <a:solidFill>
              <a:srgbClr val="FDE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 txBox="1"/>
          <p:nvPr/>
        </p:nvSpPr>
        <p:spPr>
          <a:xfrm>
            <a:off x="4681728" y="3959352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Sigmoide: gradiente 13 millones de veces menor en la 1.ª capa; PR-AUC 0,116 (azar). </a:t>
            </a: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He: 0,411.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y salida: BCE con pesos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no cambian el ranking de clientes; cambian el punto de operación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 Gaete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846320" cy="3337560"/>
          </a:xfrm>
          <a:prstGeom prst="roundRect">
            <a:avLst>
              <a:gd name="adj" fmla="val 21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417320"/>
          <a:ext cx="47548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71600"/>
          <a:ext cx="32004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óptimo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con pesos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+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0" y="32004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Elegido: sigmoide + BCE con pesos de clase. </a:t>
            </a: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PR-AUC que BCE, atiende a la clase minoritaria y el umbral se elige en validación (no depende de 0,5).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Regularización: de 0,29 a 0,45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grande (256-128-64) con y sin técnicas; PR-AUC en validación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 Gaete</a:t>
            </a:r>
            <a:endParaRPr lang="en-US" sz="1000" dirty="0"/>
          </a:p>
        </p:txBody>
      </p:sp>
      <p:pic>
        <p:nvPicPr>
          <p:cNvPr id="6" name="fig_reg" descr="Curvas con y sin regulariz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669280" cy="174650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regularización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(1e-3)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+ BatchNorm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617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= pérdida final − pérdida mínima de validación.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355080" y="1325880"/>
            <a:ext cx="2331720" cy="1033272"/>
          </a:xfrm>
          <a:prstGeom prst="roundRect">
            <a:avLst>
              <a:gd name="adj" fmla="val 708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 txBox="1"/>
          <p:nvPr/>
        </p:nvSpPr>
        <p:spPr>
          <a:xfrm>
            <a:off x="6464808" y="13898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+0,16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464808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al regularizar (0,294 → 0,455)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2468880"/>
            <a:ext cx="2331720" cy="1033272"/>
          </a:xfrm>
          <a:prstGeom prst="roundRect">
            <a:avLst>
              <a:gd name="adj" fmla="val 708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6464808" y="25328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6464808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con Early Stopping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3611880"/>
            <a:ext cx="2331720" cy="1033272"/>
          </a:xfrm>
          <a:prstGeom prst="roundRect">
            <a:avLst>
              <a:gd name="adj" fmla="val 708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6464808" y="36758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BatchNorm sola no basta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64808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0,598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Hiperparámetros y modelo final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aleatoria de 20 configuraciones; las 3 mejores se repiten con 3 semillas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Francisco Gaete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337560"/>
          </a:xfrm>
          <a:prstGeom prst="roundRect">
            <a:avLst>
              <a:gd name="adj" fmla="val 219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 txBox="1"/>
          <p:nvPr/>
        </p:nvSpPr>
        <p:spPr>
          <a:xfrm>
            <a:off x="59436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Paisaje plano: las 20 configuraciones quedan entre 0,441 y 0,459.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13716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12213F"/>
          </a:solidFill>
          <a:ln w="12700">
            <a:solidFill>
              <a:srgbClr val="12213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 txBox="1"/>
          <p:nvPr/>
        </p:nvSpPr>
        <p:spPr>
          <a:xfrm>
            <a:off x="470916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final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82880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128-64 neuronas, ReLU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0,2 + L2 1e-4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 1e-3 · batch 512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clase · Early Stopping (paciencia 6)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decisión 0,71 (validación)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384048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DEEE8"/>
          </a:solidFill>
          <a:ln w="12700">
            <a:solidFill>
              <a:srgbClr val="FDE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4636008" y="3867912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 semilla la «mejor» (0,459) bajó a 0,453 al repetir; </a:t>
            </a: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ganadora real subió a 0,463. Mejora real pero pequeña (+0,011).</a:t>
            </a:r>
            <a:endParaRPr lang="en-US" sz="1200" dirty="0"/>
          </a:p>
        </p:txBody>
      </p:sp>
      <p:sp>
        <p:nvSpPr>
          <p:cNvPr id="14" name="Titulo tabla">
            <a:extLst>
              <a:ext uri="{FF2B5EF4-FFF2-40B4-BE49-F238E27FC236}">
                <a16:creationId xmlns:a16="http://schemas.microsoft.com/office/drawing/2014/main" id="{C619081E-0AB4-C5D6-BFEA-1CBAEE14575C}"/>
              </a:ext>
            </a:extLst>
          </p:cNvPr>
          <p:cNvSpPr txBox="1"/>
          <p:nvPr/>
        </p:nvSpPr>
        <p:spPr>
          <a:xfrm>
            <a:off x="594360" y="1447800"/>
            <a:ext cx="356616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200">
                <a:solidFill>
                  <a:srgbClr val="12213F"/>
                </a:solidFill>
                <a:latin typeface="Calibri" panose="020F0502020204030204" pitchFamily="34" charset="0"/>
              </a:rPr>
              <a:t>PR-AUC y F1 en validación (3 semillas)</a:t>
            </a:r>
            <a:endParaRPr lang="es-CL" sz="1200">
              <a:solidFill>
                <a:srgbClr val="12213F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5" name="Tabla configuraciones">
            <a:extLst>
              <a:ext uri="{FF2B5EF4-FFF2-40B4-BE49-F238E27FC236}">
                <a16:creationId xmlns:a16="http://schemas.microsoft.com/office/drawing/2014/main" id="{E627E49C-86CC-4023-824A-E8C8C3D33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619922"/>
              </p:ext>
            </p:extLst>
          </p:nvPr>
        </p:nvGraphicFramePr>
        <p:xfrm>
          <a:off x="533400" y="1778000"/>
          <a:ext cx="3566160" cy="186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79006403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3776299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94552021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6466807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Configuración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PR-AUC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F1 ópt.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Épocas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12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75794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Base 64-32 (40 épocas)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0,433 ± 0,002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0,472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31656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Base + Early Stopping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0,452 ± 0,003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0,485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04241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Top 1: 128-64, dropout 0,5</a:t>
                      </a:r>
                      <a:endParaRPr lang="es-CL" sz="1000" b="0">
                        <a:solidFill>
                          <a:srgbClr val="12213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0,453 ± 0,004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0,488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11673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Top 2: 256-128-64, dropout 0,1</a:t>
                      </a:r>
                      <a:endParaRPr lang="es-CL" sz="1000" b="0">
                        <a:solidFill>
                          <a:srgbClr val="12213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0,458 ± 0,003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0,491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0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5337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r>
                        <a:rPr lang="es-CL" sz="1000" b="1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Final: 128-64, dropout 0,2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0,463 ± 0,004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0,493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>
                          <a:solidFill>
                            <a:srgbClr val="12213F"/>
                          </a:solidFill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0800" marR="50800" marT="38100" marB="38100" anchor="ctr">
                    <a:lnL w="9525" cmpd="sng">
                      <a:solidFill>
                        <a:srgbClr val="D9DEE7"/>
                      </a:solidFill>
                    </a:lnL>
                    <a:lnR w="9525" cmpd="sng">
                      <a:solidFill>
                        <a:srgbClr val="D9DEE7"/>
                      </a:solidFill>
                    </a:lnR>
                    <a:lnT w="9525" cmpd="sng">
                      <a:solidFill>
                        <a:srgbClr val="D9DEE7"/>
                      </a:solidFill>
                    </a:lnT>
                    <a:lnB w="9525" cmpd="sng">
                      <a:solidFill>
                        <a:srgbClr val="D9DEE7"/>
                      </a:solidFill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845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Métricas: de la matriz de confusión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en el conjunto de prueba (6.782 clientes, 793 contratan), umbral 0,71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Sebastian Lagos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«no»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417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«yes»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18288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«no»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29260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«yes»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1828800"/>
            <a:ext cx="1362456" cy="1042416"/>
          </a:xfrm>
          <a:prstGeom prst="rect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051560" y="1828800"/>
            <a:ext cx="13624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5.571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1362456" cy="1042416"/>
          </a:xfrm>
          <a:prstGeom prst="rect">
            <a:avLst/>
          </a:prstGeom>
          <a:solidFill>
            <a:srgbClr val="FBD9CC"/>
          </a:solidFill>
          <a:ln w="12700">
            <a:solidFill>
              <a:srgbClr val="FBD9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2468880" y="1828800"/>
            <a:ext cx="13624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51560" y="2926080"/>
            <a:ext cx="1362456" cy="1042416"/>
          </a:xfrm>
          <a:prstGeom prst="rect">
            <a:avLst/>
          </a:prstGeom>
          <a:solidFill>
            <a:srgbClr val="FBD9CC"/>
          </a:solidFill>
          <a:ln w="12700">
            <a:solidFill>
              <a:srgbClr val="FBD9C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051560" y="2926080"/>
            <a:ext cx="13624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468880" y="2926080"/>
            <a:ext cx="1362456" cy="1042416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2468880" y="2926080"/>
            <a:ext cx="13624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</a:t>
            </a:r>
            <a:endParaRPr lang="en-US" sz="2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llamada desperdiciada · FN = venta perdida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1417320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114800" y="14173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14173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(363 + 5.571) / 6.782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14173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77640" y="2167128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4114800" y="2167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1671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/ (363 + 418)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216712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0,465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977640" y="2916936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4114800" y="2916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2916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/ (363 + 430)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291693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0,458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977640" y="3666744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4114800" y="366674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6667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0,465 · 0,458 / (0,465 + 0,458)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366674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0,461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977640" y="4434840"/>
            <a:ext cx="4709160" cy="411480"/>
          </a:xfrm>
          <a:prstGeom prst="roundRect">
            <a:avLst>
              <a:gd name="adj" fmla="val 17778"/>
            </a:avLst>
          </a:prstGeom>
          <a:solidFill>
            <a:srgbClr val="FDEEE8"/>
          </a:solidFill>
          <a:ln w="12700">
            <a:solidFill>
              <a:srgbClr val="FDE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4069080" y="44348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trivial «siempre no» tiene Accuracy 0,883 y Recall 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en prueba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MLP supera a la regresión logística; la mejora grande del F1 viene del umbral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Sebastian Lagos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4805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(prueba)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«no»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22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con su mejor umbral elegido en validación. Con umbral 0,5 el MLP base solo logra F1 0,357.</a:t>
            </a:r>
            <a:endParaRPr lang="en-US" sz="1100" dirty="0"/>
          </a:p>
        </p:txBody>
      </p:sp>
      <p:pic>
        <p:nvPicPr>
          <p:cNvPr id="8" name="fig_ganancia" descr="Curva de ganancia en prueb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3456432" cy="2057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 txBox="1"/>
          <p:nvPr/>
        </p:nvSpPr>
        <p:spPr>
          <a:xfrm>
            <a:off x="5943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4,0×</a:t>
            </a:r>
            <a:endParaRPr lang="en-US" sz="2800" dirty="0"/>
          </a:p>
        </p:txBody>
      </p:sp>
      <p:sp>
        <p:nvSpPr>
          <p:cNvPr id="6" name="Text 7"/>
          <p:cNvSpPr txBox="1"/>
          <p:nvPr/>
        </p:nvSpPr>
        <p:spPr>
          <a:xfrm>
            <a:off x="59436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que llamar al azar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33832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contrataciones llamando </a:t>
            </a:r>
            <a:r>
              <a:rPr lang="en-US" sz="120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20 % de </a:t>
            </a: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61722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0,477 ± 0,017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 validación cruzada (5 pliegues)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>
                <a:solidFill>
                  <a:srgbClr val="12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mejorar Precision y Recall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umbral cambia una a costa de la otra; mejorar el modelo sube la curva completa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Sebastian Lagos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 txBox="1"/>
          <p:nvPr/>
        </p:nvSpPr>
        <p:spPr>
          <a:xfrm>
            <a:off x="5943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→ 0,71</a:t>
            </a:r>
            <a:endParaRPr lang="en-US" sz="2800" dirty="0"/>
          </a:p>
        </p:txBody>
      </p:sp>
      <p:sp>
        <p:nvSpPr>
          <p:cNvPr id="6" name="Text 7"/>
          <p:cNvSpPr txBox="1"/>
          <p:nvPr/>
        </p:nvSpPr>
        <p:spPr>
          <a:xfrm>
            <a:off x="59436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en prueba: Recall 0,629 → 0,458 y Precision 0,304 → 0,465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 txBox="1"/>
          <p:nvPr/>
        </p:nvSpPr>
        <p:spPr>
          <a:xfrm>
            <a:off x="33832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+0,040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PR-AUC sobre la regresión logística (0,424 vs 0,384)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6118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 txBox="1"/>
          <p:nvPr/>
        </p:nvSpPr>
        <p:spPr>
          <a:xfrm>
            <a:off x="61722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17220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>
                <a:solidFill>
                  <a:srgbClr val="122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y fijar el umbral por costo; probar XGBoost</a:t>
            </a:r>
            <a:endParaRPr lang="en-US" sz="1200" dirty="0"/>
          </a:p>
        </p:txBody>
      </p:sp>
      <p:pic>
        <p:nvPicPr>
          <p:cNvPr id="19" name="fig_curva_pr">
            <a:extLst>
              <a:ext uri="{FF2B5EF4-FFF2-40B4-BE49-F238E27FC236}">
                <a16:creationId xmlns:a16="http://schemas.microsoft.com/office/drawing/2014/main" id="{9FAD9127-3367-0C13-A7DC-100E098C0E2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2529840" cy="2095500"/>
          </a:xfrm>
          <a:prstGeom prst="rect">
            <a:avLst/>
          </a:prstGeom>
        </p:spPr>
      </p:pic>
      <p:pic>
        <p:nvPicPr>
          <p:cNvPr id="21" name="fig_umbral">
            <a:extLst>
              <a:ext uri="{FF2B5EF4-FFF2-40B4-BE49-F238E27FC236}">
                <a16:creationId xmlns:a16="http://schemas.microsoft.com/office/drawing/2014/main" id="{7F0C8CB6-E5E1-C203-9AE6-AE01B3033DB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136900" y="1295400"/>
            <a:ext cx="2529840" cy="2095500"/>
          </a:xfrm>
          <a:prstGeom prst="rect">
            <a:avLst/>
          </a:prstGeom>
        </p:spPr>
      </p:pic>
      <p:sp>
        <p:nvSpPr>
          <p:cNvPr id="22" name="Tarjeta lectura">
            <a:extLst>
              <a:ext uri="{FF2B5EF4-FFF2-40B4-BE49-F238E27FC236}">
                <a16:creationId xmlns:a16="http://schemas.microsoft.com/office/drawing/2014/main" id="{F1F904EA-7A6B-1E81-A4ED-1CDDD829E84E}"/>
              </a:ext>
            </a:extLst>
          </p:cNvPr>
          <p:cNvSpPr/>
          <p:nvPr/>
        </p:nvSpPr>
        <p:spPr>
          <a:xfrm>
            <a:off x="5852160" y="1295400"/>
            <a:ext cx="2834640" cy="20955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o lectura">
            <a:extLst>
              <a:ext uri="{FF2B5EF4-FFF2-40B4-BE49-F238E27FC236}">
                <a16:creationId xmlns:a16="http://schemas.microsoft.com/office/drawing/2014/main" id="{5CDC5E30-E1C6-11BE-1767-E0C016F5C315}"/>
              </a:ext>
            </a:extLst>
          </p:cNvPr>
          <p:cNvSpPr txBox="1"/>
          <p:nvPr/>
        </p:nvSpPr>
        <p:spPr>
          <a:xfrm>
            <a:off x="5994400" y="1371600"/>
            <a:ext cx="25527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b="1">
                <a:solidFill>
                  <a:srgbClr val="12213F"/>
                </a:solidFill>
                <a:latin typeface="Calibri" panose="020F0502020204030204" pitchFamily="34" charset="0"/>
              </a:rPr>
              <a:t>Cómo leerlo</a:t>
            </a:r>
          </a:p>
          <a:p>
            <a:pPr>
              <a:spcAft>
                <a:spcPts val="600"/>
              </a:spcAft>
            </a:pPr>
            <a:r>
              <a:rPr lang="es-ES" sz="1100">
                <a:solidFill>
                  <a:srgbClr val="12213F"/>
                </a:solidFill>
                <a:latin typeface="Calibri" panose="020F0502020204030204" pitchFamily="34" charset="0"/>
              </a:rPr>
              <a:t>Derecha: subir el umbral sube la Precision y baja el Recall. En 0,71 se cruzan y el F1 es máximo (validación).</a:t>
            </a:r>
          </a:p>
          <a:p>
            <a:pPr>
              <a:spcAft>
                <a:spcPts val="600"/>
              </a:spcAft>
            </a:pPr>
            <a:r>
              <a:rPr lang="es-ES" sz="1100">
                <a:solidFill>
                  <a:srgbClr val="12213F"/>
                </a:solidFill>
                <a:latin typeface="Calibri" panose="020F0502020204030204" pitchFamily="34" charset="0"/>
              </a:rPr>
              <a:t>Izquierda: el MLP final queda sobre la regresión logística en casi todo el rango: mejora ambas a la vez.</a:t>
            </a:r>
            <a:endParaRPr lang="es-CL" sz="1100">
              <a:solidFill>
                <a:srgbClr val="12213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0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8660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708660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Sebastian Lagos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C3057"/>
          </a:solidFill>
          <a:ln w="12700">
            <a:solidFill>
              <a:srgbClr val="1C30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621792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aprendimos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sobreajuste fue el problema principal: regularizar vale +0,16 </a:t>
            </a:r>
            <a:r>
              <a:rPr lang="en-US" sz="13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PR‑AUC; </a:t>
            </a: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afinar, +0,011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88 % de «no», la métrica y el umbral importan más que la arquitectura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es casi lineal: la red supera a la regresión logística, sin saltos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C3057"/>
          </a:solidFill>
          <a:ln w="12700">
            <a:solidFill>
              <a:srgbClr val="1C30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3410712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aleatoria, no temporal: month y day pueden filtrar el calendario de la campaña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Comparaciones a épocas fijas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no calibradas; umbral por F1, no por costo real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C3057"/>
          </a:solidFill>
          <a:ln w="12700">
            <a:solidFill>
              <a:srgbClr val="1C30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199632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propuestas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XGBoost o LightGBM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y elegir el umbral por costo/beneficio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temporal, ensamble de semillas e ingeniería de variables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2549</Words>
  <Application>Microsoft Office PowerPoint</Application>
  <PresentationFormat>Presentación en pantalla (16:9)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EP1 DLY0100 - MLP Bank Marketing</dc:title>
  <dc:subject>Evaluación Parcial 1 - DLY0100 Deep Learning</dc:subject>
  <dc:creator>Nicolás Cisternas, Francisco Gaete, Sebastian Lagos</dc:creator>
  <cp:lastModifiedBy>Nicolas Cisternas</cp:lastModifiedBy>
  <cp:revision>6</cp:revision>
  <dcterms:created xsi:type="dcterms:W3CDTF">2026-10-06T07:33:14Z</dcterms:created>
  <dcterms:modified xsi:type="dcterms:W3CDTF">2026-10-09T22:40:16Z</dcterms:modified>
</cp:coreProperties>
</file>